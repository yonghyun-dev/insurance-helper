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109728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맑은 고딕"/>
              </a:rPr>
              <a:t>보험청구심사 어시스턴트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08960"/>
            <a:ext cx="10332720" cy="54864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ctr"/>
            <a:r>
              <a:rPr sz="2200" b="0">
                <a:solidFill>
                  <a:srgbClr val="CBD5E1"/>
                </a:solidFill>
                <a:latin typeface="맑은 고딕"/>
              </a:rPr>
              <a:t>서비스 종합 안내서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23360"/>
            <a:ext cx="10332720" cy="4572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ctr"/>
            <a:r>
              <a:rPr sz="1400" b="0">
                <a:solidFill>
                  <a:srgbClr val="CBD5E1"/>
                </a:solidFill>
                <a:latin typeface="맑은 고딕"/>
              </a:rPr>
              <a:t>RAG 기반 대국민 보험 청구 가능성 사전 확인 서비스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4754880"/>
            <a:ext cx="2103120" cy="365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33272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ctr"/>
            <a:r>
              <a:rPr sz="1300" b="0">
                <a:solidFill>
                  <a:srgbClr val="CBD5E1"/>
                </a:solidFill>
                <a:latin typeface="맑은 고딕"/>
              </a:rPr>
              <a:t>작성일: 2026-05-24    |    대상: 외부 공유 · 소개 · 온보딩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486400"/>
            <a:ext cx="1033272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ctr"/>
            <a:r>
              <a:rPr sz="1200" b="0">
                <a:solidFill>
                  <a:srgbClr val="9CAAC0"/>
                </a:solidFill>
                <a:latin typeface="맑은 고딕"/>
              </a:rPr>
              <a:t>테스트: 898 passed · ruff 0 · Sprint 8.6 완료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4572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맑은 고딕"/>
              </a:rPr>
              <a:t>목차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9144000" cy="27432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맑은 고딕"/>
              </a:rPr>
              <a:t>Service Overview — 11 sections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286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</a:p>
        </p:txBody>
      </p:sp>
      <p:sp>
        <p:nvSpPr>
          <p:cNvPr id="6" name="Oval 5"/>
          <p:cNvSpPr/>
          <p:nvPr/>
        </p:nvSpPr>
        <p:spPr>
          <a:xfrm>
            <a:off x="914400" y="1143000"/>
            <a:ext cx="365760" cy="365760"/>
          </a:xfrm>
          <a:prstGeom prst="ellipse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097280"/>
            <a:ext cx="3200400" cy="4572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500" b="1">
                <a:solidFill>
                  <a:srgbClr val="1F3A68"/>
                </a:solidFill>
                <a:latin typeface="맑은 고딕"/>
              </a:rPr>
              <a:t>서비스 개요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143000"/>
            <a:ext cx="6858000" cy="4572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200" b="0">
                <a:solidFill>
                  <a:srgbClr val="5F6B7A"/>
                </a:solidFill>
                <a:latin typeface="맑은 고딕"/>
              </a:rPr>
              <a:t>도메인 · 사용자 · 진행률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1600200"/>
            <a:ext cx="365760" cy="365760"/>
          </a:xfrm>
          <a:prstGeom prst="ellipse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554480"/>
            <a:ext cx="3200400" cy="4572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500" b="1">
                <a:solidFill>
                  <a:srgbClr val="1F3A68"/>
                </a:solidFill>
                <a:latin typeface="맑은 고딕"/>
              </a:rPr>
              <a:t>기술 스택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600200"/>
            <a:ext cx="6858000" cy="4572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200" b="0">
                <a:solidFill>
                  <a:srgbClr val="5F6B7A"/>
                </a:solidFill>
                <a:latin typeface="맑은 고딕"/>
              </a:rPr>
              <a:t>백엔드 · AI · DB · 프론트 · 인프라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2057400"/>
            <a:ext cx="365760" cy="365760"/>
          </a:xfrm>
          <a:prstGeom prst="ellipse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011680"/>
            <a:ext cx="3200400" cy="4572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500" b="1">
                <a:solidFill>
                  <a:srgbClr val="1F3A68"/>
                </a:solidFill>
                <a:latin typeface="맑은 고딕"/>
              </a:rPr>
              <a:t>전체 아키텍처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057400"/>
            <a:ext cx="6858000" cy="4572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200" b="0">
                <a:solidFill>
                  <a:srgbClr val="5F6B7A"/>
                </a:solidFill>
                <a:latin typeface="맑은 고딕"/>
              </a:rPr>
              <a:t>레이어별 데이터 흐름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2514600"/>
            <a:ext cx="365760" cy="365760"/>
          </a:xfrm>
          <a:prstGeom prst="ellipse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2468880"/>
            <a:ext cx="3200400" cy="4572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500" b="1">
                <a:solidFill>
                  <a:srgbClr val="1F3A68"/>
                </a:solidFill>
                <a:latin typeface="맑은 고딕"/>
              </a:rPr>
              <a:t>API 명세 요약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2514600"/>
            <a:ext cx="6858000" cy="4572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200" b="0">
                <a:solidFill>
                  <a:srgbClr val="5F6B7A"/>
                </a:solidFill>
                <a:latin typeface="맑은 고딕"/>
              </a:rPr>
              <a:t>세션 4 · 문서 2 · 운영 2</a:t>
            </a:r>
          </a:p>
        </p:txBody>
      </p:sp>
      <p:sp>
        <p:nvSpPr>
          <p:cNvPr id="18" name="Oval 17"/>
          <p:cNvSpPr/>
          <p:nvPr/>
        </p:nvSpPr>
        <p:spPr>
          <a:xfrm>
            <a:off x="914400" y="2971800"/>
            <a:ext cx="365760" cy="365760"/>
          </a:xfrm>
          <a:prstGeom prst="ellipse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2926080"/>
            <a:ext cx="3200400" cy="4572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500" b="1">
                <a:solidFill>
                  <a:srgbClr val="1F3A68"/>
                </a:solidFill>
                <a:latin typeface="맑은 고딕"/>
              </a:rPr>
              <a:t>프론트엔드 컴포넌트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2971800"/>
            <a:ext cx="6858000" cy="4572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200" b="0">
                <a:solidFill>
                  <a:srgbClr val="5F6B7A"/>
                </a:solidFill>
                <a:latin typeface="맑은 고딕"/>
              </a:rPr>
              <a:t>React + Vite + TypeScript</a:t>
            </a:r>
          </a:p>
        </p:txBody>
      </p:sp>
      <p:sp>
        <p:nvSpPr>
          <p:cNvPr id="21" name="Oval 20"/>
          <p:cNvSpPr/>
          <p:nvPr/>
        </p:nvSpPr>
        <p:spPr>
          <a:xfrm>
            <a:off x="914400" y="3429000"/>
            <a:ext cx="365760" cy="365760"/>
          </a:xfrm>
          <a:prstGeom prst="ellipse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3383280"/>
            <a:ext cx="3200400" cy="4572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500" b="1">
                <a:solidFill>
                  <a:srgbClr val="1F3A68"/>
                </a:solidFill>
                <a:latin typeface="맑은 고딕"/>
              </a:rPr>
              <a:t>뉴로심볼릭 구성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3429000"/>
            <a:ext cx="6858000" cy="4572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200" b="0">
                <a:solidFill>
                  <a:srgbClr val="5F6B7A"/>
                </a:solidFill>
                <a:latin typeface="맑은 고딕"/>
              </a:rPr>
              <a:t>Neuro + Symbolic 결합 (~93%)</a:t>
            </a:r>
          </a:p>
        </p:txBody>
      </p:sp>
      <p:sp>
        <p:nvSpPr>
          <p:cNvPr id="24" name="Oval 23"/>
          <p:cNvSpPr/>
          <p:nvPr/>
        </p:nvSpPr>
        <p:spPr>
          <a:xfrm>
            <a:off x="914400" y="3886200"/>
            <a:ext cx="365760" cy="365760"/>
          </a:xfrm>
          <a:prstGeom prst="ellipse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3840480"/>
            <a:ext cx="3200400" cy="4572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500" b="1">
                <a:solidFill>
                  <a:srgbClr val="1F3A68"/>
                </a:solidFill>
                <a:latin typeface="맑은 고딕"/>
              </a:rPr>
              <a:t>시나리오 흐름 4건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0" y="3886200"/>
            <a:ext cx="6858000" cy="4572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200" b="0">
                <a:solidFill>
                  <a:srgbClr val="5F6B7A"/>
                </a:solidFill>
                <a:latin typeface="맑은 고딕"/>
              </a:rPr>
              <a:t>자동차 · 화재 × 정보충분 · 부족</a:t>
            </a:r>
          </a:p>
        </p:txBody>
      </p:sp>
      <p:sp>
        <p:nvSpPr>
          <p:cNvPr id="27" name="Oval 26"/>
          <p:cNvSpPr/>
          <p:nvPr/>
        </p:nvSpPr>
        <p:spPr>
          <a:xfrm>
            <a:off x="914400" y="4343400"/>
            <a:ext cx="365760" cy="365760"/>
          </a:xfrm>
          <a:prstGeom prst="ellipse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0" y="4297680"/>
            <a:ext cx="3200400" cy="4572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500" b="1">
                <a:solidFill>
                  <a:srgbClr val="1F3A68"/>
                </a:solidFill>
                <a:latin typeface="맑은 고딕"/>
              </a:rPr>
              <a:t>데이터 자산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0" y="4343400"/>
            <a:ext cx="6858000" cy="4572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200" b="0">
                <a:solidFill>
                  <a:srgbClr val="5F6B7A"/>
                </a:solidFill>
                <a:latin typeface="맑은 고딕"/>
              </a:rPr>
              <a:t>PDF 4 · 청크 739 · 그래프 748 노드</a:t>
            </a:r>
          </a:p>
        </p:txBody>
      </p:sp>
      <p:sp>
        <p:nvSpPr>
          <p:cNvPr id="30" name="Oval 29"/>
          <p:cNvSpPr/>
          <p:nvPr/>
        </p:nvSpPr>
        <p:spPr>
          <a:xfrm>
            <a:off x="914400" y="4800600"/>
            <a:ext cx="365760" cy="365760"/>
          </a:xfrm>
          <a:prstGeom prst="ellipse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63040" y="4754880"/>
            <a:ext cx="3200400" cy="4572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500" b="1">
                <a:solidFill>
                  <a:srgbClr val="1F3A68"/>
                </a:solidFill>
                <a:latin typeface="맑은 고딕"/>
              </a:rPr>
              <a:t>운영 인프라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80" y="4800600"/>
            <a:ext cx="6858000" cy="4572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200" b="0">
                <a:solidFill>
                  <a:srgbClr val="5F6B7A"/>
                </a:solidFill>
                <a:latin typeface="맑은 고딕"/>
              </a:rPr>
              <a:t>SLO · 감사 · PII · rate limit</a:t>
            </a:r>
          </a:p>
        </p:txBody>
      </p:sp>
      <p:sp>
        <p:nvSpPr>
          <p:cNvPr id="33" name="Oval 32"/>
          <p:cNvSpPr/>
          <p:nvPr/>
        </p:nvSpPr>
        <p:spPr>
          <a:xfrm>
            <a:off x="914400" y="5257800"/>
            <a:ext cx="365760" cy="365760"/>
          </a:xfrm>
          <a:prstGeom prst="ellipse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63040" y="5212080"/>
            <a:ext cx="3200400" cy="4572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500" b="1">
                <a:solidFill>
                  <a:srgbClr val="1F3A68"/>
                </a:solidFill>
                <a:latin typeface="맑은 고딕"/>
              </a:rPr>
              <a:t>로드맵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54880" y="5257800"/>
            <a:ext cx="6858000" cy="4572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200" b="0">
                <a:solidFill>
                  <a:srgbClr val="5F6B7A"/>
                </a:solidFill>
                <a:latin typeface="맑은 고딕"/>
              </a:rPr>
              <a:t>Sprint 9~12+</a:t>
            </a:r>
          </a:p>
        </p:txBody>
      </p:sp>
      <p:sp>
        <p:nvSpPr>
          <p:cNvPr id="36" name="Oval 35"/>
          <p:cNvSpPr/>
          <p:nvPr/>
        </p:nvSpPr>
        <p:spPr>
          <a:xfrm>
            <a:off x="914400" y="5715000"/>
            <a:ext cx="365760" cy="365760"/>
          </a:xfrm>
          <a:prstGeom prst="ellipse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11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63040" y="5669280"/>
            <a:ext cx="3200400" cy="4572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500" b="1">
                <a:solidFill>
                  <a:srgbClr val="1F3A68"/>
                </a:solidFill>
                <a:latin typeface="맑은 고딕"/>
              </a:rPr>
              <a:t>참고 문서 인덱스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54880" y="5715000"/>
            <a:ext cx="6858000" cy="4572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200" b="0">
                <a:solidFill>
                  <a:srgbClr val="5F6B7A"/>
                </a:solidFill>
                <a:latin typeface="맑은 고딕"/>
              </a:rPr>
              <a:t>design / requirements / usage / pm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4572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맑은 고딕"/>
              </a:rPr>
              <a:t>1. 서비스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9144000" cy="27432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맑은 고딕"/>
              </a:rPr>
              <a:t>한 줄 소개 + 도메인 + 사용자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286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</a:p>
        </p:txBody>
      </p:sp>
      <p:sp>
        <p:nvSpPr>
          <p:cNvPr id="6" name="Rounded Rectangle 5"/>
          <p:cNvSpPr/>
          <p:nvPr/>
        </p:nvSpPr>
        <p:spPr>
          <a:xfrm>
            <a:off x="457200" y="1005840"/>
            <a:ext cx="11247120" cy="1280160"/>
          </a:xfrm>
          <a:prstGeom prst="roundRect">
            <a:avLst/>
          </a:prstGeom>
          <a:solidFill>
            <a:srgbClr val="E8EEF7"/>
          </a:solidFill>
          <a:ln w="9525">
            <a:solidFill>
              <a:srgbClr val="C4C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143000"/>
            <a:ext cx="10698480" cy="109728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  <a:latin typeface="맑은 고딕"/>
              </a:rPr>
              <a:t>일반 국민이 자신의 보험금 청구 가능성을 자연어로 질문하면, 실제 보험사 약관 PDF 원문을 근거로 '가능성 높음 / 중간 / 낮음' 등급과 조항 인용을 함께 제시하는 RAG 기반 대국민 서비스 도구.
단정적 판단('된다 / 안된다') 대신 충족 항목과 미충족 항목을 정리해 사용자가 직접 최종 판단을 내릴 수 있도록 돕는다. 모든 응답에는 법적 면책 문구가 포함된다.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68880"/>
            <a:ext cx="548640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400" b="1">
                <a:solidFill>
                  <a:srgbClr val="2E7D32"/>
                </a:solidFill>
                <a:latin typeface="맑은 고딕"/>
              </a:rPr>
              <a:t>대상 영역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3464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121"/>
                </a:solidFill>
                <a:latin typeface="맑은 고딕"/>
              </a:rPr>
              <a:t>• 자동차보험 (auto)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121"/>
                </a:solidFill>
                <a:latin typeface="맑은 고딕"/>
              </a:rPr>
              <a:t>• 화재보험 (fire)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121"/>
                </a:solidFill>
                <a:latin typeface="맑은 고딕"/>
              </a:rPr>
              <a:t>• 상해질병 (accident_disease)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121"/>
                </a:solidFill>
                <a:latin typeface="맑은 고딕"/>
              </a:rPr>
              <a:t>• 현재 데이터: 한화손해보험 자동차·화재 약관 + 요약서 PDF 4종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468880"/>
            <a:ext cx="548640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400" b="1">
                <a:solidFill>
                  <a:srgbClr val="2E7D32"/>
                </a:solidFill>
                <a:latin typeface="맑은 고딕"/>
              </a:rPr>
              <a:t>주요 사용자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217920" y="2834640"/>
          <a:ext cx="56692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2194560"/>
                <a:gridCol w="237744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사용자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진입 방식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목적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일반 국민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웹 UI 채팅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청구 가능성 사전 확인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운영자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CLI + API + /metrics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데이터 적재 · 모니터링 · 감사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개발자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소스코드 + 본 문서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온보딩 · 기능 이해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57200" y="4572000"/>
            <a:ext cx="548640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400" b="1">
                <a:solidFill>
                  <a:srgbClr val="E65C00"/>
                </a:solidFill>
                <a:latin typeface="맑은 고딕"/>
              </a:rPr>
              <a:t>단정적 판단 회피 원칙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93776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121"/>
                </a:solidFill>
                <a:latin typeface="맑은 고딕"/>
              </a:rPr>
              <a:t>• satisfied / unsatisfied 두 목록으로 분리해서 제시 — 사용자가 직접 판단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121"/>
                </a:solidFill>
                <a:latin typeface="맑은 고딕"/>
              </a:rPr>
              <a:t>• likelihood 는 '높음 / 중간 / 낮음' 3단계 + confidence (full / partial) 명시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121"/>
                </a:solidFill>
                <a:latin typeface="맑은 고딕"/>
              </a:rPr>
              <a:t>• partial: 필수 슬롯 일부 미충족 상태에서의 추정 응답 — UI '(추정)' 배지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121"/>
                </a:solidFill>
                <a:latin typeface="맑은 고딕"/>
              </a:rPr>
              <a:t>• 모든 assessment 응답에 면책 문구 의무 포함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4572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맑은 고딕"/>
              </a:rPr>
              <a:t>1. 서비스 개요 — 진행률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9144000" cy="27432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맑은 고딕"/>
              </a:rPr>
              <a:t>2026-05-24 기준 · 898 tests · ruff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286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005840"/>
          <a:ext cx="11247119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8757"/>
                <a:gridCol w="8033657"/>
                <a:gridCol w="2224705"/>
              </a:tblGrid>
              <a:tr h="35356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Sprint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상태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PDF 적재 파이프라인 + CLI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완료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멀티턴 대화 HTTP API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완료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웹 UI 사양서 + 백엔드 정비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완료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4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GraphRAG + Hybrid + ReAct 골격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완료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인용 카드 PDF 페이지 캡처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완료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6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응답 품질 정책 (partial + 모름 처리)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완료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응답 톤 정책 (능동적 안내 + 친절체)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완료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8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대국민 서비스 전환 인프라 (감사/PII/rate/circuit)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완료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8.5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후속 보정 + 디자인 패키지 + frontend 통합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완료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8.6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옵션 노출 정책 정교화 (OptionsPanel)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완료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외부 read-only tool (KIDI 활성 + law/hira 골격)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진행 ~60%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10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fss 금감원 크롤링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보류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ReAct agent 본격 활성 (AgentRunner)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진행 ~93%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12+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외부 호스팅 · 도메인 · DPIA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미착수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4572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맑은 고딕"/>
              </a:rPr>
              <a:t>2. 기술 스택 — 백엔드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9144000" cy="27432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맑은 고딕"/>
              </a:rPr>
              <a:t>Python 3.11+ · FastAPI · SQLAlchemy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286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005840"/>
          <a:ext cx="11247119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114800"/>
                <a:gridCol w="4846319"/>
              </a:tblGrid>
              <a:tr h="5588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기술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역할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선택 이유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Python 3.11+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전체 백엔드 언어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AI/ML 라이브러리 생태계 + 팀 역량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FastAPI 0.110+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REST API 서버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비동기 · 타입 검증 · OpenAPI 자동 문서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Typer + Rich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CLI (ica 명령어)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데이터 파이프라인 운영자 도구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SQLAlchemy + Alembic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ORM + 마이그레이션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SQL injection 차단 + 스키마 이력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pydantic-settings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환경 변수 관리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.env 기반 타입 안전 설정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slowapi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rate limit (per-IP / per-session)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FastAPI 네이티브 미들웨어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pybreaker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circuit breaker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외부 API 장애 격리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httpx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외부 API 비동기 클라이언트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MCP 없이 직접 REST 호출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4572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맑은 고딕"/>
              </a:rPr>
              <a:t>2. 기술 스택 — AI / 검색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9144000" cy="27432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맑은 고딕"/>
              </a:rPr>
              <a:t>gpt-4o-mini · Chroma · Neo4j · LangChain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286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005840"/>
          <a:ext cx="11247118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79"/>
                <a:gridCol w="3840479"/>
                <a:gridCol w="4480560"/>
              </a:tblGrid>
              <a:tr h="522514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기술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역할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선택 이유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OpenAI gpt-4o-mini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LLM (슬롯 추출 · 질문 생성 · 판단)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한국어 품질 무난 + 비용 저렴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text-embedding-3-small (1536-d)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청크 임베딩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LLM과 동일 제공자 → API 키 1개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Chroma (로컬 영속화)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벡터 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임베디드 (별도 서버 없음) + 메타 필터링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Neo4j 5.x community (Docker)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그래프 DB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약관 계층 탐색 + LangChain GraphCypherQAChain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LangChain (app/rag/ 한정)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GraphRAG 래퍼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GraphCypherQAChain 재사용 + LangChain-neo4j 통합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251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pdfplumber + PyMuPDF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PDF 파서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표 추출 + 페이지 이미지 (Sprint 5 lazy 변환)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4937760"/>
            <a:ext cx="11247120" cy="1463040"/>
          </a:xfrm>
          <a:prstGeom prst="roundRect">
            <a:avLst/>
          </a:prstGeom>
          <a:solidFill>
            <a:srgbClr val="E8EEF7"/>
          </a:solidFill>
          <a:ln w="9525">
            <a:solidFill>
              <a:srgbClr val="C4C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029200"/>
            <a:ext cx="1069848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300" b="1">
                <a:solidFill>
                  <a:srgbClr val="1F3A68"/>
                </a:solidFill>
                <a:latin typeface="맑은 고딕"/>
              </a:rPr>
              <a:t>LLM 호출 3종 (모두 Function Calling / Structured Output)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394960"/>
            <a:ext cx="10698480" cy="100584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  <a:latin typeface="맑은 고딕"/>
              </a:rPr>
              <a:t>extract_slots (temperature 0.0, 매 turn 의무)   ·   next_question (temperature 0.0, ask 응답)   ·   generate_assessment (temperature 0.2, JSON Schema 강제)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4572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맑은 고딕"/>
              </a:rPr>
              <a:t>2. 기술 스택 — DB · 프론트 · 인프라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9144000" cy="27432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맑은 고딕"/>
              </a:rPr>
              <a:t>SQLite/PostgreSQL · React · Docker · Prometheus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286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548640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400" b="1">
                <a:solidFill>
                  <a:srgbClr val="2E7D32"/>
                </a:solidFill>
                <a:latin typeface="맑은 고딕"/>
              </a:rPr>
              <a:t>데이터베이스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25880"/>
          <a:ext cx="54864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329184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DB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용도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SQLite / PostgreSQL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메타데이터 + 감사 로그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Chroma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벡터 임베딩 + 유사도 검색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Neo4j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약관 계층 지식 그래프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인메모리 dict + TTL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대화 세션 (30분)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217920" y="960120"/>
            <a:ext cx="548640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400" b="1">
                <a:solidFill>
                  <a:srgbClr val="2E7D32"/>
                </a:solidFill>
                <a:latin typeface="맑은 고딕"/>
              </a:rPr>
              <a:t>프론트엔드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17920" y="1325880"/>
          <a:ext cx="54864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108960"/>
              </a:tblGrid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기술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역할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React + Vite + TypeScript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채팅 UI (Claude 디자인 생성)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CSS Modules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컴포넌트 스코프 스타일 격리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4023360"/>
            <a:ext cx="548640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400" b="1">
                <a:solidFill>
                  <a:srgbClr val="2E7D32"/>
                </a:solidFill>
                <a:latin typeface="맑은 고딕"/>
              </a:rPr>
              <a:t>운영 / 인프라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4389120"/>
          <a:ext cx="11247118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79"/>
                <a:gridCol w="8321039"/>
              </a:tblGrid>
              <a:tr h="28738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기술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역할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</a:tr>
              <a:tr h="28738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Docker Compose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Neo4j · PostgreSQL 로컬 실행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738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Prometheus /metrics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SLO 메트릭 수집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28738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Alembic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DB 스키마 마이그레이션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738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presidio (옵션) · 정규식 5종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PII 마스킹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28738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cachetools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외부 API 인메모리 캐시 (TTL 24h)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73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GitHub Actions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CI (PR마다 pytest + ruff)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4572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맑은 고딕"/>
              </a:rPr>
              <a:t>3. 전체 아키텍처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9144000" cy="27432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맑은 고딕"/>
              </a:rPr>
              <a:t>사용자 → 미들웨어 → LLM / RAG / Tool → 저장소 · 외부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286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</a:p>
        </p:txBody>
      </p:sp>
      <p:sp>
        <p:nvSpPr>
          <p:cNvPr id="6" name="Rounded Rectangle 5"/>
          <p:cNvSpPr/>
          <p:nvPr/>
        </p:nvSpPr>
        <p:spPr>
          <a:xfrm>
            <a:off x="457200" y="1005840"/>
            <a:ext cx="5486400" cy="914400"/>
          </a:xfrm>
          <a:prstGeom prst="roundRect">
            <a:avLst/>
          </a:prstGeom>
          <a:solidFill>
            <a:srgbClr val="E3F2FD"/>
          </a:solidFill>
          <a:ln w="9525">
            <a:solidFill>
              <a:srgbClr val="C4C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51560"/>
            <a:ext cx="5303520" cy="32004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200" b="1">
                <a:solidFill>
                  <a:srgbClr val="1F3A68"/>
                </a:solidFill>
                <a:latin typeface="맑은 고딕"/>
              </a:rPr>
              <a:t>[1] 클라이언트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 b="0">
                <a:solidFill>
                  <a:srgbClr val="212121"/>
                </a:solidFill>
                <a:latin typeface="맑은 고딕"/>
              </a:rPr>
              <a:t>• 사용자 브라우저 (React + Vite)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212121"/>
                </a:solidFill>
                <a:latin typeface="맑은 고딕"/>
              </a:rPr>
              <a:t>• 운영자 CLI (ica 명령어)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005840"/>
            <a:ext cx="5486400" cy="914400"/>
          </a:xfrm>
          <a:prstGeom prst="roundRect">
            <a:avLst/>
          </a:prstGeom>
          <a:solidFill>
            <a:srgbClr val="FFF3E0"/>
          </a:solidFill>
          <a:ln w="9525">
            <a:solidFill>
              <a:srgbClr val="C4C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051560"/>
            <a:ext cx="5303520" cy="32004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200" b="1">
                <a:solidFill>
                  <a:srgbClr val="1F3A68"/>
                </a:solidFill>
                <a:latin typeface="맑은 고딕"/>
              </a:rPr>
              <a:t>[7] 외부 API (Sprint 9~10)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371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 b="0">
                <a:solidFill>
                  <a:srgbClr val="212121"/>
                </a:solidFill>
                <a:latin typeface="맑은 고딕"/>
              </a:rPr>
              <a:t>• 법령정보센터 / HIRA / KIDI(✅) / 금감원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103120"/>
            <a:ext cx="11247120" cy="1005840"/>
          </a:xfrm>
          <a:prstGeom prst="roundRect">
            <a:avLst/>
          </a:prstGeom>
          <a:solidFill>
            <a:srgbClr val="E8F5E9"/>
          </a:solidFill>
          <a:ln w="9525">
            <a:solidFill>
              <a:srgbClr val="C4C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148840"/>
            <a:ext cx="11064240" cy="32004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200" b="1">
                <a:solidFill>
                  <a:srgbClr val="1F3A68"/>
                </a:solidFill>
                <a:latin typeface="맑은 고딕"/>
              </a:rPr>
              <a:t>[2] FastAPI 서버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46888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 b="0">
                <a:solidFill>
                  <a:srgbClr val="212121"/>
                </a:solidFill>
                <a:latin typeface="맑은 고딕"/>
              </a:rPr>
              <a:t>• slowapi rate limit  →  Audit Middleware (response_id)  →  PII 마스킹 (입력)  →  sessions.service.post_message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291840"/>
            <a:ext cx="5486400" cy="914400"/>
          </a:xfrm>
          <a:prstGeom prst="roundRect">
            <a:avLst/>
          </a:prstGeom>
          <a:solidFill>
            <a:srgbClr val="F3E5F5"/>
          </a:solidFill>
          <a:ln w="9525">
            <a:solidFill>
              <a:srgbClr val="C4C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337560"/>
            <a:ext cx="5303520" cy="32004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200" b="1">
                <a:solidFill>
                  <a:srgbClr val="1F3A68"/>
                </a:solidFill>
                <a:latin typeface="맑은 고딕"/>
              </a:rPr>
              <a:t>[3] LLM 레이어 (gpt-4o-mini)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657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 b="0">
                <a:solidFill>
                  <a:srgbClr val="212121"/>
                </a:solidFill>
                <a:latin typeface="맑은 고딕"/>
              </a:rPr>
              <a:t>• extract_slots → next_question → generate_assessment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291840"/>
            <a:ext cx="5486400" cy="914400"/>
          </a:xfrm>
          <a:prstGeom prst="roundRect">
            <a:avLst/>
          </a:prstGeom>
          <a:solidFill>
            <a:srgbClr val="FFEBEE"/>
          </a:solidFill>
          <a:ln w="9525">
            <a:solidFill>
              <a:srgbClr val="C4C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3337560"/>
            <a:ext cx="5303520" cy="32004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200" b="1">
                <a:solidFill>
                  <a:srgbClr val="1F3A68"/>
                </a:solidFill>
                <a:latin typeface="맑은 고딕"/>
              </a:rPr>
              <a:t>[4] RAG / Tool 레이어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3657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 b="0">
                <a:solidFill>
                  <a:srgbClr val="212121"/>
                </a:solidFill>
                <a:latin typeface="맑은 고딕"/>
              </a:rPr>
              <a:t>• rag.service.retrieve (Vector + Graph + Hybrid)  ·  AgentRunner (ReAct loop, Sprint 11)  ·  Tool Dispatcher (8종)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389120"/>
            <a:ext cx="11247120" cy="914400"/>
          </a:xfrm>
          <a:prstGeom prst="roundRect">
            <a:avLst/>
          </a:prstGeom>
          <a:solidFill>
            <a:srgbClr val="ECEFF1"/>
          </a:solidFill>
          <a:ln w="9525">
            <a:solidFill>
              <a:srgbClr val="C4C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434840"/>
            <a:ext cx="11064240" cy="32004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200" b="1">
                <a:solidFill>
                  <a:srgbClr val="1F3A68"/>
                </a:solidFill>
                <a:latin typeface="맑은 고딕"/>
              </a:rPr>
              <a:t>[5] 저장소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754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 b="0">
                <a:solidFill>
                  <a:srgbClr val="212121"/>
                </a:solidFill>
                <a:latin typeface="맑은 고딕"/>
              </a:rPr>
              <a:t>• Chroma (739 벡터)   ·   Neo4j (748 노드)   ·   SQLite / PostgreSQL (메타 + audit_log)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5486400"/>
            <a:ext cx="11247120" cy="914400"/>
          </a:xfrm>
          <a:prstGeom prst="roundRect">
            <a:avLst/>
          </a:prstGeom>
          <a:solidFill>
            <a:srgbClr val="E8F5E9"/>
          </a:solidFill>
          <a:ln w="9525">
            <a:solidFill>
              <a:srgbClr val="C4C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532120"/>
            <a:ext cx="11064240" cy="32004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200" b="1">
                <a:solidFill>
                  <a:srgbClr val="1F3A68"/>
                </a:solidFill>
                <a:latin typeface="맑은 고딕"/>
              </a:rPr>
              <a:t>[6] 응답 후처리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85216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 b="0">
                <a:solidFill>
                  <a:srgbClr val="212121"/>
                </a:solidFill>
                <a:latin typeface="맑은 고딕"/>
              </a:rPr>
              <a:t>• PII 마스킹 (출력)   →   Audit Write (llm_calls + retrieved_chunk_ids)   →   클라이언트 응답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4572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맑은 고딕"/>
              </a:rPr>
              <a:t>3. 전체 아키텍처 — 레이어 역할 요약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9144000" cy="27432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맑은 고딕"/>
              </a:rPr>
              <a:t>각 레이어의 책임과 핵심 파일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286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005840"/>
          <a:ext cx="11247119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5303519"/>
                <a:gridCol w="3657600"/>
              </a:tblGrid>
              <a:tr h="5588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레이어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역할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핵심 파일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FastAPI Router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인증 없음 + rate limit + CORS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app/sessions/router.py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Audit Middleware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response_id 생성 + 감사 기록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app/audit/middleware.py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PII 마스킹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입출력 개인정보 정규식 차단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app/security/pii.py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sessions.service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오케스트레이션 (슬롯 수집 → 분기 → 응답)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app/sessions/service.py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LLM 레이어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3종 Function Calling + Structured Output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app/sessions/llm.py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RAG 레이어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Vector / Graph / Hybrid 검색 + ReAct loop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app/rag/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Tool Dispatcher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8종 tool 라우팅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app/tools/dispatcher.py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외부 어댑터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httpx + cachetools + circuit breaker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app/external/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4572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맑은 고딕"/>
              </a:rPr>
              <a:t>4. API 명세 요약 — 엔드포인트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9144000" cy="27432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맑은 고딕"/>
              </a:rPr>
              <a:t>Base: http://localhost:8000/api/v1   ·   인증 없음 (대국민)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286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548640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400" b="1">
                <a:solidFill>
                  <a:srgbClr val="2E7D32"/>
                </a:solidFill>
                <a:latin typeface="맑은 고딕"/>
              </a:rPr>
              <a:t>세션 API (4종)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25880"/>
          <a:ext cx="11247119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3200400"/>
                <a:gridCol w="2286000"/>
                <a:gridCol w="4846319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메서드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경로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응답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설명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/sessions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201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새 대화 세션 생성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POST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/sessions/{id}/messages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200 ask | assessment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멀티턴 핵심 — 슬롯 충족 분기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/sessions/{id}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디버그 — 슬롯 + 대화 이력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DELETE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/sessions/{id}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204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세션 명시 폐기 (멱등)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3840480"/>
            <a:ext cx="548640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400" b="1">
                <a:solidFill>
                  <a:srgbClr val="2E7D32"/>
                </a:solidFill>
                <a:latin typeface="맑은 고딕"/>
              </a:rPr>
              <a:t>문서 API (2종)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4206240"/>
          <a:ext cx="5486399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19"/>
                <a:gridCol w="2926080"/>
              </a:tblGrid>
              <a:tr h="4267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경로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설명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GET /documents/products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등록 상품 목록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GET /documents/insurers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등록 보험사 목록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17920" y="3840480"/>
            <a:ext cx="548640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400" b="1">
                <a:solidFill>
                  <a:srgbClr val="2E7D32"/>
                </a:solidFill>
                <a:latin typeface="맑은 고딕"/>
              </a:rPr>
              <a:t>운영 API (2종)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217920" y="4206240"/>
          <a:ext cx="548640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108960"/>
              </a:tblGrid>
              <a:tr h="4267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경로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설명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GET /health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서버 상태 확인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GET /metrics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Prometheus 메트릭 (SLO)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4572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맑은 고딕"/>
              </a:rPr>
              <a:t>4. API — 응답 모드 + 에러 코드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9144000" cy="27432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맑은 고딕"/>
              </a:rPr>
              <a:t>discriminated union (type: ask | assessment)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286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548640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300" b="1">
                <a:solidFill>
                  <a:srgbClr val="1F3A68"/>
                </a:solidFill>
                <a:latin typeface="맑은 고딕"/>
              </a:rPr>
              <a:t>type: ask — 슬롯 보강 질의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5486400" cy="2286000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C4C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463040"/>
            <a:ext cx="5212080" cy="210312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Consolas"/>
              </a:rPr>
              <a:t>{
  "assistant": {
    "type": "ask",
    "message": "사고 당시 과실 비율을 알고 계신가요?",
    "expected_slots": ["fault_ratio"],
    "options": ["0%", "10%", "20~50%", "50%+", "모르겠습니다"]
  }
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960120"/>
            <a:ext cx="548640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300" b="1">
                <a:solidFill>
                  <a:srgbClr val="1F3A68"/>
                </a:solidFill>
                <a:latin typeface="맑은 고딕"/>
              </a:rPr>
              <a:t>type: assessment — 최종 판단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486400" cy="2286000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C4C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463040"/>
            <a:ext cx="5212080" cy="210312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Consolas"/>
              </a:rPr>
              <a:t>{
  "assistant": {
    "type": "assessment",
    "likelihood": "중간",
    "confidence": "full" | "partial",
    "summary": "...",
    "satisfied": [...], "unsatisfied": [...],
    "citations": [...], "next_steps": [...],
    "disclaimer": "본 결과는 참고용이며 ..."
  }
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931920"/>
            <a:ext cx="1097280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400" b="1">
                <a:solidFill>
                  <a:srgbClr val="E65C00"/>
                </a:solidFill>
                <a:latin typeface="맑은 고딕"/>
              </a:rPr>
              <a:t>공통 에러 코드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57200" y="4297680"/>
          <a:ext cx="112471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743200"/>
                <a:gridCol w="7589520"/>
              </a:tblGrid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HTTP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code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발생 시점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VALIDATION_ERROR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입력값 검증 실패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404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SESSION_NOT_FOUND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세션 만료 또는 오타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429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RATE_LIMITED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per-IP 10 req/min 초과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503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LLM_UNAVAILABLE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OpenAI 호출 실패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4572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맑은 고딕"/>
              </a:rPr>
              <a:t>5. 프론트엔드 컴포넌트 트리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9144000" cy="27432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맑은 고딕"/>
              </a:rPr>
              <a:t>React + Vite + TypeScript · CSS Modules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286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</a:p>
        </p:txBody>
      </p:sp>
      <p:sp>
        <p:nvSpPr>
          <p:cNvPr id="6" name="Rounded Rectangle 5"/>
          <p:cNvSpPr/>
          <p:nvPr/>
        </p:nvSpPr>
        <p:spPr>
          <a:xfrm>
            <a:off x="457200" y="1005840"/>
            <a:ext cx="6858000" cy="5212080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C4C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097280"/>
            <a:ext cx="6583680" cy="50292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  <a:latin typeface="Consolas"/>
              </a:rPr>
              <a:t>App
├─ ChatHeader
│   └─ NewChatButton
├─ MessageList
│   └─ MessageBubble
│       ├─ AskCard
│       │   └─ OptionsPanel  ← closed-ended 슬롯만 노출
│       └─ AssessmentCard
│           ├─ LikelihoodBadge
│           ├─ PartialBadge  ← '(추정)' 표시
│           ├─ SatisfiedList / UnsatisfiedList
│           ├─ CitationList
│           │   └─ CitationItem
│           │       ├─ PageImageThumb  ← /static/page_images/
│           │       └─ PdfLink  ← #page=N
│           ├─ NextStepsList
│           └─ Disclaimer
├─ ChatInput
└─ SlotInspector  ← 디버그 (접힘)
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1005840"/>
            <a:ext cx="457200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400" b="1">
                <a:solidFill>
                  <a:srgbClr val="2E7D32"/>
                </a:solidFill>
                <a:latin typeface="맑은 고딕"/>
              </a:rPr>
              <a:t>라우팅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589520" y="1371600"/>
          <a:ext cx="4114799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651759"/>
              </a:tblGrid>
              <a:tr h="31350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경로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/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메인 채팅 단일 페이지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/legal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법적 이용약관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/disclaimer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서비스 면책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/privacy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개인정보 처리방침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/accessibility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접근성 안내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351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/sources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데이터 출처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589520" y="3840480"/>
            <a:ext cx="457200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400" b="1">
                <a:solidFill>
                  <a:srgbClr val="2E7D32"/>
                </a:solidFill>
                <a:latin typeface="맑은 고딕"/>
              </a:rPr>
              <a:t>useSession 흐름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4206240"/>
            <a:ext cx="4297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121"/>
                </a:solidFill>
                <a:latin typeface="맑은 고딕"/>
              </a:rPr>
              <a:t>• 첫 메시지 → POST /sessions → sessionId 획득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121"/>
                </a:solidFill>
                <a:latin typeface="맑은 고딕"/>
              </a:rPr>
              <a:t>• 이후 → POST /sessions/{id}/messages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121"/>
                </a:solidFill>
                <a:latin typeface="맑은 고딕"/>
              </a:rPr>
              <a:t>• type 분기 → AskCard or AssessmentCard 렌더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121"/>
                </a:solidFill>
                <a:latin typeface="맑은 고딕"/>
              </a:rPr>
              <a:t>• 오류 시 낙관적 업데이트 롤백 + 에러 표시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4572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맑은 고딕"/>
              </a:rPr>
              <a:t>6. 뉴로심볼릭 — Neuro (신경망)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9144000" cy="27432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맑은 고딕"/>
              </a:rPr>
              <a:t>LLM 자연어 이해 + 추론   ·   현재 진행률 ~93%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286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005840"/>
          <a:ext cx="11247119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657600"/>
                <a:gridCol w="3474719"/>
                <a:gridCol w="1828800"/>
              </a:tblGrid>
              <a:tr h="6096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구성 요소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역할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모델 / 적용 범위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상태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extract_slots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자연어 → SlotState 필드 추출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gpt-4o-mini (T=0.0) / 매 turn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완료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next_question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부족 슬롯 → 질문 + 옵션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gpt-4o-mini (T=0.0) / ask 응답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완료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generate_assessment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슬롯 + RAG → 가능성 + 인용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gpt-4o-mini (T=0.2) / assessment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완료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RAG Hybrid 검색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질의 → 관련 약관 청크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text-embedding-3-small (1536-d)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완료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ReAct agent loop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LLM이 tool 자가 선택 · 반복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RAG_REACT=true 시 (max_iter=5)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~93%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029200"/>
            <a:ext cx="1097280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400" b="1">
                <a:solidFill>
                  <a:srgbClr val="1F3A68"/>
                </a:solidFill>
                <a:latin typeface="맑은 고딕"/>
              </a:rPr>
              <a:t>LLM 호출 순서 (기본 흐름)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394960"/>
            <a:ext cx="11247120" cy="822960"/>
          </a:xfrm>
          <a:prstGeom prst="roundRect">
            <a:avLst/>
          </a:prstGeom>
          <a:solidFill>
            <a:srgbClr val="E8EEF7"/>
          </a:solidFill>
          <a:ln w="9525">
            <a:solidFill>
              <a:srgbClr val="C4C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1247120" cy="64008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ctr"/>
            <a:r>
              <a:rPr sz="1300" b="0">
                <a:solidFill>
                  <a:srgbClr val="212121"/>
                </a:solidFill>
                <a:latin typeface="맑은 고딕"/>
              </a:rPr>
              <a:t>extract_slots  →  (슬롯 부족) next_question  /  (충족) RAG 검색  →  generate_assessment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4572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맑은 고딕"/>
              </a:rPr>
              <a:t>6. 뉴로심볼릭 — Symbolic (규칙 기반)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9144000" cy="27432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맑은 고딕"/>
              </a:rPr>
              <a:t>결정론 계산 + 신뢰성 보장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286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005840"/>
          <a:ext cx="11247119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4389119"/>
                <a:gridCol w="3657600"/>
              </a:tblGrid>
              <a:tr h="4775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구성 요소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역할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위치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슬롯 validator (_compute_missing)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영역별 필수 슬롯 충족 여부 결정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app/sessions/service.py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partial 분기 (_should_partial)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ask≥3 / unknown≥2 / 명시 키워드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app/sessions/service.py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Neo4j 지식 그래프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Insurer→Product→...→Clause 탐색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app/rag/graph.py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Tool Dispatcher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LLM tool_call → 함수 라우팅 (8종)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app/tools/dispatcher.py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KIDI 과실비율 정적 데이터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6 시나리오 (get_fault_ratio_standard)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app/external/kidi/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calc_claim_amount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의료수가/손해액 → 보험금 산정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app/tools/calc.py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validate_coverage_period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사고일 ∈ 보장기간 검증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app/tools/calc.py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구조 인식 청킹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제N조/항/표 단위 정규식 분할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app/chunks/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486400"/>
            <a:ext cx="1097280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300" b="1">
                <a:solidFill>
                  <a:srgbClr val="E65C00"/>
                </a:solidFill>
                <a:latin typeface="맑은 고딕"/>
              </a:rPr>
              <a:t>옵션 노출 정책 (Sprint 8.6 — Claude Plan 모드 패턴)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852160"/>
            <a:ext cx="11247120" cy="73152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  <a:latin typeface="맑은 고딕"/>
              </a:rPr>
              <a:t>closed-ended 5종 (area, incident_type, damage_type, loss_type, cause) → options 채움 + '모르겠습니다' 의무
open-ended (insurer, incident_date, diagnosis, fault_ratio 등) → options 빈 배열 → OptionsPanel 자동 숨김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4572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맑은 고딕"/>
              </a:rPr>
              <a:t>7. 시나리오 A — 자동차 정보 충분 → ask 1턴 → assessment full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9144000" cy="27432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맑은 고딕"/>
              </a:rPr>
              <a:t>보험사·사고유형·과실비율을 첫 메시지에 포함한 경우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286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300" b="1">
                <a:solidFill>
                  <a:srgbClr val="2E7D32"/>
                </a:solidFill>
                <a:latin typeface="맑은 고딕"/>
              </a:rPr>
              <a:t>대화 흐름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17320"/>
            <a:ext cx="1371600" cy="411480"/>
          </a:xfrm>
          <a:prstGeom prst="roundRect">
            <a:avLst/>
          </a:prstGeom>
          <a:solidFill>
            <a:srgbClr val="1F3A68"/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사용자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11680" y="1371600"/>
            <a:ext cx="9692640" cy="521208"/>
          </a:xfrm>
          <a:prstGeom prst="roundRect">
            <a:avLst/>
          </a:prstGeom>
          <a:solidFill>
            <a:srgbClr val="E3F2FD"/>
          </a:solidFill>
          <a:ln w="9525">
            <a:solidFill>
              <a:srgbClr val="C4C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48840" y="1417320"/>
            <a:ext cx="9418320" cy="475488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맑은 고딕"/>
              </a:rPr>
              <a:t>한화손해보험 자동차보험. 어제 추돌사고로 상대방 차 긁혔어요. 과실비율은 20%입니다.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984248"/>
            <a:ext cx="1371600" cy="411480"/>
          </a:xfrm>
          <a:prstGeom prst="roundRect">
            <a:avLst/>
          </a:prstGeom>
          <a:solidFill>
            <a:srgbClr val="2E7D32"/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LLM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11680" y="1938528"/>
            <a:ext cx="9692640" cy="521208"/>
          </a:xfrm>
          <a:prstGeom prst="roundRect">
            <a:avLst/>
          </a:prstGeom>
          <a:solidFill>
            <a:srgbClr val="F1F8E9"/>
          </a:solidFill>
          <a:ln w="9525">
            <a:solidFill>
              <a:srgbClr val="C4C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48840" y="1984248"/>
            <a:ext cx="9418320" cy="475488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맑은 고딕"/>
              </a:rPr>
              <a:t>extract_slots → area=auto, insurer=한화, incident_type=추돌, fault_ratio=20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551176"/>
            <a:ext cx="1371600" cy="411480"/>
          </a:xfrm>
          <a:prstGeom prst="roundRect">
            <a:avLst/>
          </a:prstGeom>
          <a:solidFill>
            <a:srgbClr val="2E7D32"/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백엔드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11680" y="2505456"/>
            <a:ext cx="9692640" cy="521208"/>
          </a:xfrm>
          <a:prstGeom prst="roundRect">
            <a:avLst/>
          </a:prstGeom>
          <a:solidFill>
            <a:srgbClr val="F1F8E9"/>
          </a:solidFill>
          <a:ln w="9525">
            <a:solidFill>
              <a:srgbClr val="C4C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48840" y="2551176"/>
            <a:ext cx="9418320" cy="475488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맑은 고딕"/>
              </a:rPr>
              <a:t>_compute_missing → incident_date 부족 → next_question 호출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118104"/>
            <a:ext cx="1371600" cy="411480"/>
          </a:xfrm>
          <a:prstGeom prst="roundRect">
            <a:avLst/>
          </a:prstGeom>
          <a:solidFill>
            <a:srgbClr val="2E7D32"/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응답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011680" y="3072384"/>
            <a:ext cx="9692640" cy="521208"/>
          </a:xfrm>
          <a:prstGeom prst="roundRect">
            <a:avLst/>
          </a:prstGeom>
          <a:solidFill>
            <a:srgbClr val="F1F8E9"/>
          </a:solidFill>
          <a:ln w="9525">
            <a:solidFill>
              <a:srgbClr val="C4C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48840" y="3118104"/>
            <a:ext cx="9418320" cy="475488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맑은 고딕"/>
              </a:rPr>
              <a:t>ask: '사고 발생일이 언제인가요?'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685032"/>
            <a:ext cx="1371600" cy="411480"/>
          </a:xfrm>
          <a:prstGeom prst="roundRect">
            <a:avLst/>
          </a:prstGeom>
          <a:solidFill>
            <a:srgbClr val="1F3A68"/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사용자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011680" y="3639312"/>
            <a:ext cx="9692640" cy="521208"/>
          </a:xfrm>
          <a:prstGeom prst="roundRect">
            <a:avLst/>
          </a:prstGeom>
          <a:solidFill>
            <a:srgbClr val="E3F2FD"/>
          </a:solidFill>
          <a:ln w="9525">
            <a:solidFill>
              <a:srgbClr val="C4C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48840" y="3685032"/>
            <a:ext cx="9418320" cy="475488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맑은 고딕"/>
              </a:rPr>
              <a:t>2026-05-10이요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251960"/>
            <a:ext cx="1371600" cy="411480"/>
          </a:xfrm>
          <a:prstGeom prst="roundRect">
            <a:avLst/>
          </a:prstGeom>
          <a:solidFill>
            <a:srgbClr val="2E7D32"/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백엔드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011680" y="4206240"/>
            <a:ext cx="9692640" cy="521208"/>
          </a:xfrm>
          <a:prstGeom prst="roundRect">
            <a:avLst/>
          </a:prstGeom>
          <a:solidFill>
            <a:srgbClr val="F1F8E9"/>
          </a:solidFill>
          <a:ln w="9525">
            <a:solidFill>
              <a:srgbClr val="C4C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48840" y="4251960"/>
            <a:ext cx="9418320" cy="475488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맑은 고딕"/>
              </a:rPr>
              <a:t>모든 필수 슬롯 충족 → RAG retrieve(hybrid) → top-8 chunks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818888"/>
            <a:ext cx="1371600" cy="411480"/>
          </a:xfrm>
          <a:prstGeom prst="roundRect">
            <a:avLst/>
          </a:prstGeom>
          <a:solidFill>
            <a:srgbClr val="2E7D32"/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응답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011680" y="4773168"/>
            <a:ext cx="9692640" cy="521208"/>
          </a:xfrm>
          <a:prstGeom prst="roundRect">
            <a:avLst/>
          </a:prstGeom>
          <a:solidFill>
            <a:srgbClr val="F1F8E9"/>
          </a:solidFill>
          <a:ln w="9525">
            <a:solidFill>
              <a:srgbClr val="C4C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148840" y="4818888"/>
            <a:ext cx="9418320" cy="475488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맑은 고딕"/>
              </a:rPr>
              <a:t>assessment: likelihood=높음, confidence=full, citations=[제15조①, 제22조]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669280"/>
            <a:ext cx="11247120" cy="914400"/>
          </a:xfrm>
          <a:prstGeom prst="roundRect">
            <a:avLst/>
          </a:prstGeom>
          <a:solidFill>
            <a:srgbClr val="E8EEF7"/>
          </a:solidFill>
          <a:ln w="9525"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760720"/>
            <a:ext cx="10972800" cy="32004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200" b="1">
                <a:solidFill>
                  <a:srgbClr val="1F3A68"/>
                </a:solidFill>
                <a:latin typeface="맑은 고딕"/>
              </a:rPr>
              <a:t>결과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080760"/>
            <a:ext cx="10972800" cy="4572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  <a:latin typeface="맑은 고딕"/>
              </a:rPr>
              <a:t>✅ assessment full · likelihood=높음 · 한화 자동차약관 인용 2건 포함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4572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맑은 고딕"/>
              </a:rPr>
              <a:t>7. 시나리오 B — 자동차 정보 부족 → 즉시 partial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9144000" cy="27432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맑은 고딕"/>
              </a:rPr>
              <a:t>'그냥 모름' 시나리오 — unknown_slots ≥ 2 → partial 분기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286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300" b="1">
                <a:solidFill>
                  <a:srgbClr val="2E7D32"/>
                </a:solidFill>
                <a:latin typeface="맑은 고딕"/>
              </a:rPr>
              <a:t>대화 흐름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17320"/>
            <a:ext cx="1371600" cy="411480"/>
          </a:xfrm>
          <a:prstGeom prst="roundRect">
            <a:avLst/>
          </a:prstGeom>
          <a:solidFill>
            <a:srgbClr val="1F3A68"/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사용자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11680" y="1371600"/>
            <a:ext cx="9692640" cy="521208"/>
          </a:xfrm>
          <a:prstGeom prst="roundRect">
            <a:avLst/>
          </a:prstGeom>
          <a:solidFill>
            <a:srgbClr val="E3F2FD"/>
          </a:solidFill>
          <a:ln w="9525">
            <a:solidFill>
              <a:srgbClr val="C4C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48840" y="1417320"/>
            <a:ext cx="9418320" cy="475488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맑은 고딕"/>
              </a:rPr>
              <a:t>어제 자동차 사고 났어요. 한화보험인데 나머지는 잘 모르겠어요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984248"/>
            <a:ext cx="1371600" cy="411480"/>
          </a:xfrm>
          <a:prstGeom prst="roundRect">
            <a:avLst/>
          </a:prstGeom>
          <a:solidFill>
            <a:srgbClr val="2E7D32"/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LLM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11680" y="1938528"/>
            <a:ext cx="9692640" cy="521208"/>
          </a:xfrm>
          <a:prstGeom prst="roundRect">
            <a:avLst/>
          </a:prstGeom>
          <a:solidFill>
            <a:srgbClr val="F1F8E9"/>
          </a:solidFill>
          <a:ln w="9525">
            <a:solidFill>
              <a:srgbClr val="C4C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48840" y="1984248"/>
            <a:ext cx="9418320" cy="475488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맑은 고딕"/>
              </a:rPr>
              <a:t>extract_slots → area=auto, insurer=한화, unknown_slots=[incident_type, fault_ratio]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551176"/>
            <a:ext cx="1371600" cy="411480"/>
          </a:xfrm>
          <a:prstGeom prst="roundRect">
            <a:avLst/>
          </a:prstGeom>
          <a:solidFill>
            <a:srgbClr val="2E7D32"/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백엔드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11680" y="2505456"/>
            <a:ext cx="9692640" cy="521208"/>
          </a:xfrm>
          <a:prstGeom prst="roundRect">
            <a:avLst/>
          </a:prstGeom>
          <a:solidFill>
            <a:srgbClr val="F1F8E9"/>
          </a:solidFill>
          <a:ln w="9525">
            <a:solidFill>
              <a:srgbClr val="C4C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48840" y="2551176"/>
            <a:ext cx="9418320" cy="475488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맑은 고딕"/>
              </a:rPr>
              <a:t>_should_partial → unknown ≥ 2 → partial 분기 즉시 진입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118104"/>
            <a:ext cx="1371600" cy="411480"/>
          </a:xfrm>
          <a:prstGeom prst="roundRect">
            <a:avLst/>
          </a:prstGeom>
          <a:solidFill>
            <a:srgbClr val="2E7D32"/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백엔드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011680" y="3072384"/>
            <a:ext cx="9692640" cy="521208"/>
          </a:xfrm>
          <a:prstGeom prst="roundRect">
            <a:avLst/>
          </a:prstGeom>
          <a:solidFill>
            <a:srgbClr val="F1F8E9"/>
          </a:solidFill>
          <a:ln w="9525">
            <a:solidFill>
              <a:srgbClr val="C4C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48840" y="3118104"/>
            <a:ext cx="9418320" cy="475488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맑은 고딕"/>
              </a:rPr>
              <a:t>RAG retrieve(hybrid, slots={area, insurer}) → 자동차 일반 보장 chunks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685032"/>
            <a:ext cx="1371600" cy="411480"/>
          </a:xfrm>
          <a:prstGeom prst="roundRect">
            <a:avLst/>
          </a:prstGeom>
          <a:solidFill>
            <a:srgbClr val="2E7D32"/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LLM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011680" y="3639312"/>
            <a:ext cx="9692640" cy="521208"/>
          </a:xfrm>
          <a:prstGeom prst="roundRect">
            <a:avLst/>
          </a:prstGeom>
          <a:solidFill>
            <a:srgbClr val="F1F8E9"/>
          </a:solidFill>
          <a:ln w="9525">
            <a:solidFill>
              <a:srgbClr val="C4C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48840" y="3685032"/>
            <a:ext cx="9418320" cy="475488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맑은 고딕"/>
              </a:rPr>
              <a:t>generate_assessment(partial=true)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251960"/>
            <a:ext cx="1371600" cy="411480"/>
          </a:xfrm>
          <a:prstGeom prst="roundRect">
            <a:avLst/>
          </a:prstGeom>
          <a:solidFill>
            <a:srgbClr val="2E7D32"/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응답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011680" y="4206240"/>
            <a:ext cx="9692640" cy="521208"/>
          </a:xfrm>
          <a:prstGeom prst="roundRect">
            <a:avLst/>
          </a:prstGeom>
          <a:solidFill>
            <a:srgbClr val="F1F8E9"/>
          </a:solidFill>
          <a:ln w="9525">
            <a:solidFill>
              <a:srgbClr val="C4C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48840" y="4251960"/>
            <a:ext cx="9418320" cy="475488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맑은 고딕"/>
              </a:rPr>
              <a:t>assessment: likelihood=중간, confidence=partial, summary='정보 일부 부족 — 일반 기준 안내'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669280"/>
            <a:ext cx="11247120" cy="914400"/>
          </a:xfrm>
          <a:prstGeom prst="roundRect">
            <a:avLst/>
          </a:prstGeom>
          <a:solidFill>
            <a:srgbClr val="E8EEF7"/>
          </a:solidFill>
          <a:ln w="9525"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760720"/>
            <a:ext cx="10972800" cy="32004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200" b="1">
                <a:solidFill>
                  <a:srgbClr val="1F3A68"/>
                </a:solidFill>
                <a:latin typeface="맑은 고딕"/>
              </a:rPr>
              <a:t>결과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080760"/>
            <a:ext cx="10972800" cy="4572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  <a:latin typeface="맑은 고딕"/>
              </a:rPr>
              <a:t>⚠ assessment partial · UI '(추정)' 배지 표시 · 면책 강조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4572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맑은 고딕"/>
              </a:rPr>
              <a:t>7. 시나리오 C — 화재 정보 충분 → ask 2턴 → assessment full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9144000" cy="27432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맑은 고딕"/>
              </a:rPr>
              <a:t>화재 영역 필수 슬롯 — loss_type / cause 추가 수집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286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300" b="1">
                <a:solidFill>
                  <a:srgbClr val="2E7D32"/>
                </a:solidFill>
                <a:latin typeface="맑은 고딕"/>
              </a:rPr>
              <a:t>대화 흐름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17320"/>
            <a:ext cx="1371600" cy="411480"/>
          </a:xfrm>
          <a:prstGeom prst="roundRect">
            <a:avLst/>
          </a:prstGeom>
          <a:solidFill>
            <a:srgbClr val="1F3A68"/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사용자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11680" y="1371600"/>
            <a:ext cx="9692640" cy="521208"/>
          </a:xfrm>
          <a:prstGeom prst="roundRect">
            <a:avLst/>
          </a:prstGeom>
          <a:solidFill>
            <a:srgbClr val="E3F2FD"/>
          </a:solidFill>
          <a:ln w="9525">
            <a:solidFill>
              <a:srgbClr val="C4C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48840" y="1417320"/>
            <a:ext cx="9418320" cy="475488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맑은 고딕"/>
              </a:rPr>
              <a:t>한화손해보험 화재보험인데 부엌에서 불이 났어요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984248"/>
            <a:ext cx="1371600" cy="411480"/>
          </a:xfrm>
          <a:prstGeom prst="roundRect">
            <a:avLst/>
          </a:prstGeom>
          <a:solidFill>
            <a:srgbClr val="2E7D32"/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LLM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11680" y="1938528"/>
            <a:ext cx="9692640" cy="521208"/>
          </a:xfrm>
          <a:prstGeom prst="roundRect">
            <a:avLst/>
          </a:prstGeom>
          <a:solidFill>
            <a:srgbClr val="F1F8E9"/>
          </a:solidFill>
          <a:ln w="9525">
            <a:solidFill>
              <a:srgbClr val="C4C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48840" y="1984248"/>
            <a:ext cx="9418320" cy="475488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맑은 고딕"/>
              </a:rPr>
              <a:t>extract_slots → area=fire, insurer=한화, cause=가스/조리부주의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551176"/>
            <a:ext cx="1371600" cy="411480"/>
          </a:xfrm>
          <a:prstGeom prst="roundRect">
            <a:avLst/>
          </a:prstGeom>
          <a:solidFill>
            <a:srgbClr val="2E7D32"/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응답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11680" y="2505456"/>
            <a:ext cx="9692640" cy="521208"/>
          </a:xfrm>
          <a:prstGeom prst="roundRect">
            <a:avLst/>
          </a:prstGeom>
          <a:solidFill>
            <a:srgbClr val="F1F8E9"/>
          </a:solidFill>
          <a:ln w="9525">
            <a:solidFill>
              <a:srgbClr val="C4C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48840" y="2551176"/>
            <a:ext cx="9418320" cy="475488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맑은 고딕"/>
              </a:rPr>
              <a:t>ask + OptionsPanel: '피해 정도?' [전손, 부분손해, 도난, 기타, 모르겠습니다]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118104"/>
            <a:ext cx="1371600" cy="411480"/>
          </a:xfrm>
          <a:prstGeom prst="roundRect">
            <a:avLst/>
          </a:prstGeom>
          <a:solidFill>
            <a:srgbClr val="1F3A68"/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사용자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011680" y="3072384"/>
            <a:ext cx="9692640" cy="521208"/>
          </a:xfrm>
          <a:prstGeom prst="roundRect">
            <a:avLst/>
          </a:prstGeom>
          <a:solidFill>
            <a:srgbClr val="E3F2FD"/>
          </a:solidFill>
          <a:ln w="9525">
            <a:solidFill>
              <a:srgbClr val="C4C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48840" y="3118104"/>
            <a:ext cx="9418320" cy="475488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맑은 고딕"/>
              </a:rPr>
              <a:t>부분손해요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685032"/>
            <a:ext cx="1371600" cy="411480"/>
          </a:xfrm>
          <a:prstGeom prst="roundRect">
            <a:avLst/>
          </a:prstGeom>
          <a:solidFill>
            <a:srgbClr val="2E7D32"/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응답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011680" y="3639312"/>
            <a:ext cx="9692640" cy="521208"/>
          </a:xfrm>
          <a:prstGeom prst="roundRect">
            <a:avLst/>
          </a:prstGeom>
          <a:solidFill>
            <a:srgbClr val="F1F8E9"/>
          </a:solidFill>
          <a:ln w="9525">
            <a:solidFill>
              <a:srgbClr val="C4C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48840" y="3685032"/>
            <a:ext cx="9418320" cy="475488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맑은 고딕"/>
              </a:rPr>
              <a:t>ask: '피해 입은 물품과 사고 날짜를 알려주세요' (open-ended → OptionsPanel 숨김)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251960"/>
            <a:ext cx="1371600" cy="411480"/>
          </a:xfrm>
          <a:prstGeom prst="roundRect">
            <a:avLst/>
          </a:prstGeom>
          <a:solidFill>
            <a:srgbClr val="1F3A68"/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사용자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011680" y="4206240"/>
            <a:ext cx="9692640" cy="521208"/>
          </a:xfrm>
          <a:prstGeom prst="roundRect">
            <a:avLst/>
          </a:prstGeom>
          <a:solidFill>
            <a:srgbClr val="E3F2FD"/>
          </a:solidFill>
          <a:ln w="9525">
            <a:solidFill>
              <a:srgbClr val="C4C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48840" y="4251960"/>
            <a:ext cx="9418320" cy="475488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맑은 고딕"/>
              </a:rPr>
              <a:t>가전제품이요. 2026-05-15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818888"/>
            <a:ext cx="1371600" cy="411480"/>
          </a:xfrm>
          <a:prstGeom prst="roundRect">
            <a:avLst/>
          </a:prstGeom>
          <a:solidFill>
            <a:srgbClr val="2E7D32"/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백엔드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011680" y="4773168"/>
            <a:ext cx="9692640" cy="521208"/>
          </a:xfrm>
          <a:prstGeom prst="roundRect">
            <a:avLst/>
          </a:prstGeom>
          <a:solidFill>
            <a:srgbClr val="F1F8E9"/>
          </a:solidFill>
          <a:ln w="9525">
            <a:solidFill>
              <a:srgbClr val="C4C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148840" y="4818888"/>
            <a:ext cx="9418320" cy="475488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맑은 고딕"/>
              </a:rPr>
              <a:t>모든 필수 슬롯 충족 → RAG retrieve → 화재보험 약관 chunks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385816"/>
            <a:ext cx="1371600" cy="411480"/>
          </a:xfrm>
          <a:prstGeom prst="roundRect">
            <a:avLst/>
          </a:prstGeom>
          <a:solidFill>
            <a:srgbClr val="2E7D32"/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응답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011680" y="5340096"/>
            <a:ext cx="9692640" cy="521208"/>
          </a:xfrm>
          <a:prstGeom prst="roundRect">
            <a:avLst/>
          </a:prstGeom>
          <a:solidFill>
            <a:srgbClr val="F1F8E9"/>
          </a:solidFill>
          <a:ln w="9525">
            <a:solidFill>
              <a:srgbClr val="C4C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148840" y="5385816"/>
            <a:ext cx="9418320" cy="475488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맑은 고딕"/>
              </a:rPr>
              <a:t>assessment: likelihood=중간, confidence=full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5669280"/>
            <a:ext cx="11247120" cy="914400"/>
          </a:xfrm>
          <a:prstGeom prst="roundRect">
            <a:avLst/>
          </a:prstGeom>
          <a:solidFill>
            <a:srgbClr val="E8EEF7"/>
          </a:solidFill>
          <a:ln w="9525"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5760720"/>
            <a:ext cx="10972800" cy="32004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200" b="1">
                <a:solidFill>
                  <a:srgbClr val="1F3A68"/>
                </a:solidFill>
                <a:latin typeface="맑은 고딕"/>
              </a:rPr>
              <a:t>결과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080760"/>
            <a:ext cx="10972800" cy="4572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  <a:latin typeface="맑은 고딕"/>
              </a:rPr>
              <a:t>✅ assessment full · closed-ended 옵션 → open-ended 자동 분기 시연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4572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맑은 고딕"/>
              </a:rPr>
              <a:t>7. 시나리오 D — 화재 정보 부족 → 즉시 partial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9144000" cy="27432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맑은 고딕"/>
              </a:rPr>
              <a:t>화재 사고 정보를 거의 모르는 사용자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286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300" b="1">
                <a:solidFill>
                  <a:srgbClr val="2E7D32"/>
                </a:solidFill>
                <a:latin typeface="맑은 고딕"/>
              </a:rPr>
              <a:t>대화 흐름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17320"/>
            <a:ext cx="1371600" cy="411480"/>
          </a:xfrm>
          <a:prstGeom prst="roundRect">
            <a:avLst/>
          </a:prstGeom>
          <a:solidFill>
            <a:srgbClr val="1F3A68"/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사용자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11680" y="1371600"/>
            <a:ext cx="9692640" cy="521208"/>
          </a:xfrm>
          <a:prstGeom prst="roundRect">
            <a:avLst/>
          </a:prstGeom>
          <a:solidFill>
            <a:srgbClr val="E3F2FD"/>
          </a:solidFill>
          <a:ln w="9525">
            <a:solidFill>
              <a:srgbClr val="C4C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48840" y="1417320"/>
            <a:ext cx="9418320" cy="475488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맑은 고딕"/>
              </a:rPr>
              <a:t>집에 화재가 났는데 보험금 받을 수 있을까요? 자세한 건 다 모르겠어요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984248"/>
            <a:ext cx="1371600" cy="411480"/>
          </a:xfrm>
          <a:prstGeom prst="roundRect">
            <a:avLst/>
          </a:prstGeom>
          <a:solidFill>
            <a:srgbClr val="2E7D32"/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LLM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11680" y="1938528"/>
            <a:ext cx="9692640" cy="521208"/>
          </a:xfrm>
          <a:prstGeom prst="roundRect">
            <a:avLst/>
          </a:prstGeom>
          <a:solidFill>
            <a:srgbClr val="F1F8E9"/>
          </a:solidFill>
          <a:ln w="9525">
            <a:solidFill>
              <a:srgbClr val="C4C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48840" y="1984248"/>
            <a:ext cx="9418320" cy="475488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맑은 고딕"/>
              </a:rPr>
              <a:t>extract_slots → area=fire, unknown_slots=[insurer, loss_type, cause, damaged_items]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551176"/>
            <a:ext cx="1371600" cy="411480"/>
          </a:xfrm>
          <a:prstGeom prst="roundRect">
            <a:avLst/>
          </a:prstGeom>
          <a:solidFill>
            <a:srgbClr val="1F3A68"/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사용자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11680" y="2505456"/>
            <a:ext cx="9692640" cy="521208"/>
          </a:xfrm>
          <a:prstGeom prst="roundRect">
            <a:avLst/>
          </a:prstGeom>
          <a:solidFill>
            <a:srgbClr val="E3F2FD"/>
          </a:solidFill>
          <a:ln w="9525">
            <a:solidFill>
              <a:srgbClr val="C4C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48840" y="2551176"/>
            <a:ext cx="9418320" cy="475488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맑은 고딕"/>
              </a:rPr>
              <a:t>그냥 알려주세요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118104"/>
            <a:ext cx="1371600" cy="411480"/>
          </a:xfrm>
          <a:prstGeom prst="roundRect">
            <a:avLst/>
          </a:prstGeom>
          <a:solidFill>
            <a:srgbClr val="2E7D32"/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백엔드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011680" y="3072384"/>
            <a:ext cx="9692640" cy="521208"/>
          </a:xfrm>
          <a:prstGeom prst="roundRect">
            <a:avLst/>
          </a:prstGeom>
          <a:solidFill>
            <a:srgbClr val="F1F8E9"/>
          </a:solidFill>
          <a:ln w="9525">
            <a:solidFill>
              <a:srgbClr val="C4C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48840" y="3118104"/>
            <a:ext cx="9418320" cy="475488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맑은 고딕"/>
              </a:rPr>
              <a:t>ask 횟수 ≥ 1 + unknown ≥ 2 + '그냥' 키워드 → partial 강제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685032"/>
            <a:ext cx="1371600" cy="411480"/>
          </a:xfrm>
          <a:prstGeom prst="roundRect">
            <a:avLst/>
          </a:prstGeom>
          <a:solidFill>
            <a:srgbClr val="2E7D32"/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백엔드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011680" y="3639312"/>
            <a:ext cx="9692640" cy="521208"/>
          </a:xfrm>
          <a:prstGeom prst="roundRect">
            <a:avLst/>
          </a:prstGeom>
          <a:solidFill>
            <a:srgbClr val="F1F8E9"/>
          </a:solidFill>
          <a:ln w="9525">
            <a:solidFill>
              <a:srgbClr val="C4C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48840" y="3685032"/>
            <a:ext cx="9418320" cy="475488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맑은 고딕"/>
              </a:rPr>
              <a:t>RAG retrieve(vector, slots={area=fire}) → 화재 일반 보장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251960"/>
            <a:ext cx="1371600" cy="411480"/>
          </a:xfrm>
          <a:prstGeom prst="roundRect">
            <a:avLst/>
          </a:prstGeom>
          <a:solidFill>
            <a:srgbClr val="2E7D32"/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LLM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011680" y="4206240"/>
            <a:ext cx="9692640" cy="521208"/>
          </a:xfrm>
          <a:prstGeom prst="roundRect">
            <a:avLst/>
          </a:prstGeom>
          <a:solidFill>
            <a:srgbClr val="F1F8E9"/>
          </a:solidFill>
          <a:ln w="9525">
            <a:solidFill>
              <a:srgbClr val="C4C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48840" y="4251960"/>
            <a:ext cx="9418320" cy="475488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맑은 고딕"/>
              </a:rPr>
              <a:t>generate_assessment(partial=true)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818888"/>
            <a:ext cx="1371600" cy="411480"/>
          </a:xfrm>
          <a:prstGeom prst="roundRect">
            <a:avLst/>
          </a:prstGeom>
          <a:solidFill>
            <a:srgbClr val="2E7D32"/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응답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011680" y="4773168"/>
            <a:ext cx="9692640" cy="521208"/>
          </a:xfrm>
          <a:prstGeom prst="roundRect">
            <a:avLst/>
          </a:prstGeom>
          <a:solidFill>
            <a:srgbClr val="F1F8E9"/>
          </a:solidFill>
          <a:ln w="9525">
            <a:solidFill>
              <a:srgbClr val="C4C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148840" y="4818888"/>
            <a:ext cx="9418320" cy="475488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맑은 고딕"/>
              </a:rPr>
              <a:t>assessment: confidence=partial, summary='현재 정보로 일반 기준 안내'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669280"/>
            <a:ext cx="11247120" cy="914400"/>
          </a:xfrm>
          <a:prstGeom prst="roundRect">
            <a:avLst/>
          </a:prstGeom>
          <a:solidFill>
            <a:srgbClr val="E8EEF7"/>
          </a:solidFill>
          <a:ln w="9525"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760720"/>
            <a:ext cx="10972800" cy="32004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200" b="1">
                <a:solidFill>
                  <a:srgbClr val="1F3A68"/>
                </a:solidFill>
                <a:latin typeface="맑은 고딕"/>
              </a:rPr>
              <a:t>결과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080760"/>
            <a:ext cx="10972800" cy="4572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  <a:latin typeface="맑은 고딕"/>
              </a:rPr>
              <a:t>⚠ assessment partial · 3 partial 트리거 동시 충족 (ask+unknown+키워드)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4572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맑은 고딕"/>
              </a:rPr>
              <a:t>8. 데이터 자산 — PDF + SQLite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9144000" cy="27432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맑은 고딕"/>
              </a:rPr>
              <a:t>한화손해보험 자동차·화재 약관 4종 · 메타데이터 6 테이블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286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548640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400" b="1">
                <a:solidFill>
                  <a:srgbClr val="2E7D32"/>
                </a:solidFill>
                <a:latin typeface="맑은 고딕"/>
              </a:rPr>
              <a:t>PDF 원본 데이터 (4종)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25880"/>
          <a:ext cx="11247119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914400"/>
                <a:gridCol w="2286000"/>
                <a:gridCol w="6035039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보험사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영역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문서 종류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파일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한화손해보험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auto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약관 (terms)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data/raw/hanwha/auto/.../terms.pdf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한화손해보험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auto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상품요약 (summary)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data/raw/hanwha/auto/.../summary.pdf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한화손해보험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fire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약관 (terms)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data/raw/hanwha/fire/.../terms.pdf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한화손해보험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fire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상품요약 (summary)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data/raw/hanwha/fire/.../summary.pdf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3840480"/>
            <a:ext cx="548640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400" b="1">
                <a:solidFill>
                  <a:srgbClr val="2E7D32"/>
                </a:solidFill>
                <a:latin typeface="맑은 고딕"/>
              </a:rPr>
              <a:t>SQLite / PostgreSQL 메타데이터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4206240"/>
          <a:ext cx="11247119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19"/>
                <a:gridCol w="1645920"/>
                <a:gridCol w="7040880"/>
              </a:tblGrid>
              <a:tr h="326571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테이블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레코드 수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insurers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한화손해보험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products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개인용자동차보험, 화재보험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product_versions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각 상품 현행 판매 버전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documents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4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terms + summary × 2 영역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clause_chunks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739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구조 인식 청킹 결과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657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audit_log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17+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응답 감사 기록 (운영 누적)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4572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맑은 고딕"/>
              </a:rPr>
              <a:t>8. 데이터 자산 — Chroma + Neo4j + KIDI + eval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9144000" cy="27432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맑은 고딕"/>
              </a:rPr>
              <a:t>벡터 DB · 지식 그래프 · 외부 정적 · 평가 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286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548640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400" b="1">
                <a:solidFill>
                  <a:srgbClr val="2E7D32"/>
                </a:solidFill>
                <a:latin typeface="맑은 고딕"/>
              </a:rPr>
              <a:t>Chroma 벡터 DB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25880"/>
          <a:ext cx="54864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097280"/>
                <a:gridCol w="219456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컬렉션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벡터 수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모델 / 차원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insurance_clauses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739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text-embedding-3-small / 1536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2286000"/>
            <a:ext cx="548640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맑은 고딕"/>
              </a:rPr>
              <a:t>메타: insurer, product, version, doc_type, clause_no, page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960120"/>
            <a:ext cx="548640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400" b="1">
                <a:solidFill>
                  <a:srgbClr val="2E7D32"/>
                </a:solidFill>
                <a:latin typeface="맑은 고딕"/>
              </a:rPr>
              <a:t>Neo4j 지식 그래프 (748 노드)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217920" y="1325880"/>
          <a:ext cx="54864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822960"/>
                <a:gridCol w="320040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라벨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수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역할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Insurer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보험사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Product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상품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Version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판매기간 버전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Document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4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원본 PDF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Clause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351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조항 (제N조)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SubClause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388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항 (①②③)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217920" y="3931920"/>
            <a:ext cx="548640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맑은 고딕"/>
              </a:rPr>
              <a:t>엣지 5종: SELLS · HAS_VERSION · HAS_DOCUMENT · CONTAINS · HAS_SUBCLAUSE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480560"/>
            <a:ext cx="548640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400" b="1">
                <a:solidFill>
                  <a:srgbClr val="2E7D32"/>
                </a:solidFill>
                <a:latin typeface="맑은 고딕"/>
              </a:rPr>
              <a:t>외부 정적 데이터 + 평가 셋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57200" y="4846320"/>
          <a:ext cx="11247119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371600"/>
                <a:gridCol w="6675119"/>
              </a:tblGrid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데이터셋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시나리오 수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KIDI 과실비율 (정적 JSON)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차101 / 차202 / 차305 / 차411 / 보03 / 이15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eval 시나리오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10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eval/scenarios/ — 입력 + 기대 슬롯 + 기대 confidence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4572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맑은 고딕"/>
              </a:rPr>
              <a:t>9. 운영 인프라 — SLO + 감사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9144000" cy="27432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맑은 고딕"/>
              </a:rPr>
              <a:t>Sprint 8: PoC → 대국민 서비스 인프라 전환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286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548640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400" b="1">
                <a:solidFill>
                  <a:srgbClr val="2E7D32"/>
                </a:solidFill>
                <a:latin typeface="맑은 고딕"/>
              </a:rPr>
              <a:t>SLO 목표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25880"/>
          <a:ext cx="11247119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3657600"/>
                <a:gridCol w="4389119"/>
              </a:tblGrid>
              <a:tr h="326571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메트릭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목표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측정 위치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API p95 응답시간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&lt; 5초 (LLM 포함)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FastAPI 미들웨어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API p50 응답시간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&lt; 2초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FastAPI 미들웨어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에러율 (5xx)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&lt; 0.5% / 24h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FastAPI 미들웨어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LLM 토큰 비용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&lt; $0.05 / 응답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LLM wrapper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RAG 검색 latency p95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&lt; 1초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rag_service.retrieve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657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외부 API 실패율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&lt; 5% (API별)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external 어댑터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3931920"/>
            <a:ext cx="548640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400" b="1">
                <a:solidFill>
                  <a:srgbClr val="2E7D32"/>
                </a:solidFill>
                <a:latin typeface="맑은 고딕"/>
              </a:rPr>
              <a:t>감사 로그 (audit_log)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4297680"/>
          <a:ext cx="112471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8503920"/>
              </a:tblGrid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필드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response_id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UUID PK — 분쟁 시 특정 응답 재현 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session_id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FK — 세션 삭제 후에도 보존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masked_user_input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PII 마스킹 후 사용자 입력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llm_calls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JSONB — 함수명, 모델, 토큰, latency_ms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retrieved_chunk_ids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text[] — RAG 인용 청크 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external_api_calls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JSONB — 외부 API 호출 기록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보존 기간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7년 (보험 분쟁 시효 기준, 법무 확인 필수)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4572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맑은 고딕"/>
              </a:rPr>
              <a:t>9. 운영 인프라 — PII · Rate Limit · 면책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9144000" cy="27432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맑은 고딕"/>
              </a:rPr>
              <a:t>신뢰성 + 법적 책임 한정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286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548640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400" b="1">
                <a:solidFill>
                  <a:srgbClr val="2E7D32"/>
                </a:solidFill>
                <a:latin typeface="맑은 고딕"/>
              </a:rPr>
              <a:t>PII 마스킹 (입력 · 출력 · 로그 3중)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25880"/>
          <a:ext cx="11247119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6675119"/>
              </a:tblGrid>
              <a:tr h="4267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대상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처리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주민번호 · 휴대전화 · 계좌 · 카드 · 이메일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정규식 + presidio 옵션 마스킹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진단명 · 과실비율 · 사고 경위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마스킹 제외 (분쟁 시 필수)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2697480"/>
            <a:ext cx="1097280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맑은 고딕"/>
              </a:rPr>
              <a:t>Settings.pii_masking_enabled=False — 테스트 환경 비활성화 가능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0400"/>
            <a:ext cx="548640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400" b="1">
                <a:solidFill>
                  <a:srgbClr val="2E7D32"/>
                </a:solidFill>
                <a:latin typeface="맑은 고딕"/>
              </a:rPr>
              <a:t>Rate Limit + Circuit Breaker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3566160"/>
          <a:ext cx="1124712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850392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위치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정책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API 진입 (slowapi)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per-IP 10 req/min · per-session 30 req/min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외부 API 어댑터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5xx/timeout 5회 연속 → 60초 open → vector RAG 단독 폴백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LLM 호출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일일 $50 한도 초과 시 503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5120640"/>
            <a:ext cx="548640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400" b="1">
                <a:solidFill>
                  <a:srgbClr val="E65C00"/>
                </a:solidFill>
                <a:latin typeface="맑은 고딕"/>
              </a:rPr>
              <a:t>면책 + 법적 책임 한정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5486400"/>
          <a:ext cx="1124712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7589520"/>
              </a:tblGrid>
              <a:tr h="39624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위치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모든 assessment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_DEFAULT_DISCLAIMER — '본 결과는 참고용이며 최종 청구 판단을 대체하지 않습니다'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모든 ask + UI 헤더 + /disclaimer 페이지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면책 영구 표시 + 최초 접속 확인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4572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맑은 고딕"/>
              </a:rPr>
              <a:t>10. 로드맵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9144000" cy="27432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맑은 고딕"/>
              </a:rPr>
              <a:t>Sprint 9 ~ Sprint 12+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286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</a:p>
        </p:txBody>
      </p:sp>
      <p:sp>
        <p:nvSpPr>
          <p:cNvPr id="6" name="Rounded Rectangle 5"/>
          <p:cNvSpPr/>
          <p:nvPr/>
        </p:nvSpPr>
        <p:spPr>
          <a:xfrm>
            <a:off x="457200" y="1051560"/>
            <a:ext cx="5577840" cy="2468880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C4C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097280"/>
            <a:ext cx="374904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400" b="1">
                <a:solidFill>
                  <a:srgbClr val="1F3A68"/>
                </a:solidFill>
                <a:latin typeface="맑은 고딕"/>
              </a:rPr>
              <a:t>Sprint 9 — 외부 read-only tool 활성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143000"/>
            <a:ext cx="1554480" cy="320040"/>
          </a:xfrm>
          <a:prstGeom prst="roundRect">
            <a:avLst/>
          </a:prstGeom>
          <a:solidFill>
            <a:srgbClr val="E65C00"/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진행 ~60%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5212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 b="0">
                <a:solidFill>
                  <a:srgbClr val="212121"/>
                </a:solidFill>
                <a:latin typeface="맑은 고딕"/>
              </a:rPr>
              <a:t>• KIDI 과실비율 정적 데이터 + get_fault_ratio_standard 활성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212121"/>
                </a:solidFill>
                <a:latin typeface="맑은 고딕"/>
              </a:rPr>
              <a:t>• lookup_law_clause (법령정보센터) / get_disease_code (HIRA) 어댑터 골격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212121"/>
                </a:solidFill>
                <a:latin typeface="맑은 고딕"/>
              </a:rPr>
              <a:t>• calc_claim_amount + validate_coverage_period (Sprint 10 선행)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212121"/>
                </a:solidFill>
                <a:latin typeface="맑은 고딕"/>
              </a:rPr>
              <a:t>• Tool Dispatcher 통합 완료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212121"/>
                </a:solidFill>
                <a:latin typeface="맑은 고딕"/>
              </a:rPr>
              <a:t>• 대기: law OC 코드 · HIRA serviceKey 발급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051560"/>
            <a:ext cx="5577840" cy="2468880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C4C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097280"/>
            <a:ext cx="374904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400" b="1">
                <a:solidFill>
                  <a:srgbClr val="1F3A68"/>
                </a:solidFill>
                <a:latin typeface="맑은 고딕"/>
              </a:rPr>
              <a:t>Sprint 10 — fss 금감원 크롤링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966960" y="1143000"/>
            <a:ext cx="1554480" cy="320040"/>
          </a:xfrm>
          <a:prstGeom prst="roundRect">
            <a:avLst/>
          </a:prstGeom>
          <a:solidFill>
            <a:srgbClr val="5F6B7A"/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보류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554480"/>
            <a:ext cx="5212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 b="0">
                <a:solidFill>
                  <a:srgbClr val="212121"/>
                </a:solidFill>
                <a:latin typeface="맑은 고딕"/>
              </a:rPr>
              <a:t>• get_product_meta — 금감원 공시 보험사별 공시실 HTML 스크래핑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212121"/>
                </a:solidFill>
                <a:latin typeface="맑은 고딕"/>
              </a:rPr>
              <a:t>• 각 보험사 공시실 구조 상이 → 복잡도 높음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212121"/>
                </a:solidFill>
                <a:latin typeface="맑은 고딕"/>
              </a:rPr>
              <a:t>• 캐싱 TTL 24시간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212121"/>
                </a:solidFill>
                <a:latin typeface="맑은 고딕"/>
              </a:rPr>
              <a:t>• Sprint 9 외부 API 완성 후 착수 예정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657600"/>
            <a:ext cx="5577840" cy="2743200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C4C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703320"/>
            <a:ext cx="374904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400" b="1">
                <a:solidFill>
                  <a:srgbClr val="1F3A68"/>
                </a:solidFill>
                <a:latin typeface="맑은 고딕"/>
              </a:rPr>
              <a:t>Sprint 11 — ReAct agent 본격 활성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3749040"/>
            <a:ext cx="1554480" cy="320040"/>
          </a:xfrm>
          <a:prstGeom prst="roundRect">
            <a:avLst/>
          </a:prstGeom>
          <a:solidFill>
            <a:srgbClr val="E65C00"/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진행 ~93%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160520"/>
            <a:ext cx="5212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 b="0">
                <a:solidFill>
                  <a:srgbClr val="212121"/>
                </a:solidFill>
                <a:latin typeface="맑은 고딕"/>
              </a:rPr>
              <a:t>• app/rag/agent.py AgentRunner 구현 (max_iter=5)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212121"/>
                </a:solidFill>
                <a:latin typeface="맑은 고딕"/>
              </a:rPr>
              <a:t>• rag.service.run_agent 진입점 + sessions.service 분기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212121"/>
                </a:solidFill>
                <a:latin typeface="맑은 고딕"/>
              </a:rPr>
              <a:t>• audit tool_calls 기록 연동 완료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212121"/>
                </a:solidFill>
                <a:latin typeface="맑은 고딕"/>
              </a:rPr>
              <a:t>• 남은 작업: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212121"/>
                </a:solidFill>
                <a:latin typeface="맑은 고딕"/>
              </a:rPr>
              <a:t>•   - RAG_REACT=true 환경에서 10 eval 시나리오 전수 통과 확인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212121"/>
                </a:solidFill>
                <a:latin typeface="맑은 고딕"/>
              </a:rPr>
              <a:t>•   - 영역별 의무/권장 tool 시스템 프롬프트 최종화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212121"/>
                </a:solidFill>
                <a:latin typeface="맑은 고딕"/>
              </a:rPr>
              <a:t>•   - Grafana 대시보드 연동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3657600"/>
            <a:ext cx="5577840" cy="2743200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C4C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3703320"/>
            <a:ext cx="374904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400" b="1">
                <a:solidFill>
                  <a:srgbClr val="1F3A68"/>
                </a:solidFill>
                <a:latin typeface="맑은 고딕"/>
              </a:rPr>
              <a:t>Sprint 12+ — 외부 배포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966960" y="3749040"/>
            <a:ext cx="1554480" cy="320040"/>
          </a:xfrm>
          <a:prstGeom prst="roundRect">
            <a:avLst/>
          </a:prstGeom>
          <a:solidFill>
            <a:srgbClr val="5F6B7A"/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미착수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4160520"/>
            <a:ext cx="5212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 b="0">
                <a:solidFill>
                  <a:srgbClr val="212121"/>
                </a:solidFill>
                <a:latin typeface="맑은 고딕"/>
              </a:rPr>
              <a:t>• 도메인 · TLS · DPIA (개인정보영향평가)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212121"/>
                </a:solidFill>
                <a:latin typeface="맑은 고딕"/>
              </a:rPr>
              <a:t>• 클라우드 배포 (운영자 결정)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212121"/>
                </a:solidFill>
                <a:latin typeface="맑은 고딕"/>
              </a:rPr>
              <a:t>• 사용자 인증 (현재 비로그인 → 선택 도입 가능)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212121"/>
                </a:solidFill>
                <a:latin typeface="맑은 고딕"/>
              </a:rPr>
              <a:t>• Secret Manager 연동 (현재 환경변수)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212121"/>
                </a:solidFill>
                <a:latin typeface="맑은 고딕"/>
              </a:rPr>
              <a:t>• WCAG AA 접근성 전수 점검 (스크린리더 aria-live 포함)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4572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맑은 고딕"/>
              </a:rPr>
              <a:t>11. 참고 문서 인덱스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9144000" cy="27432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맑은 고딕"/>
              </a:rPr>
              <a:t>docs/ 하위 분야별 source-of-truth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286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548640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300" b="1">
                <a:solidFill>
                  <a:srgbClr val="2E7D32"/>
                </a:solidFill>
                <a:latin typeface="맑은 고딕"/>
              </a:rPr>
              <a:t>설계 문서 (docs/design/)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25880"/>
          <a:ext cx="56692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38328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문서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tech-decisions.md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Sprint 1~8.6 기술 결정 + 대안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agent-architecture.md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LLM agent + ReAct loop + tool 카탈로그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api-spec.md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CLI + HTTP API + JSON Schema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external-apis.md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외부 API 4종 (law/HIRA/KIDI/fss)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ui-spec.md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화면 명세 + 컴포넌트 분해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ui-api-flow.md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UI ↔ API 흐름 + TS 타입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ui-states.md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화면 상태 전이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data-model.md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ERD + SlotState 필드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rag-architecture.md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Vector/Graph/Hybrid/ReAct 구조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graph-schema.md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Neo4j 노드/엣지 + Cypher 예시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309360" y="960120"/>
            <a:ext cx="548640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300" b="1">
                <a:solidFill>
                  <a:srgbClr val="2E7D32"/>
                </a:solidFill>
                <a:latin typeface="맑은 고딕"/>
              </a:rPr>
              <a:t>사용 가이드 + 요구사항 + PM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309360" y="1325880"/>
          <a:ext cx="54864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200400"/>
              </a:tblGrid>
              <a:tr h="4267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가이드 (docs/)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usage_sessions.md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HTTP API curl + ica chat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usage_graphrag.md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GraphRAG + Neo4j + ica graph-build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usage_response_quality.md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partial 모드 + 톤 정책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usage_pdf_render.md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PDF 페이지 캡처 동작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usage_ops.md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맑은 고딕"/>
                        </a:rPr>
                        <a:t>운영자 가이드 — SLO/감사/PII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09360" y="4023360"/>
            <a:ext cx="548640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300" b="1">
                <a:solidFill>
                  <a:srgbClr val="2E7D32"/>
                </a:solidFill>
                <a:latin typeface="맑은 고딕"/>
              </a:rPr>
              <a:t>요구사항 + 스프린트 +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4389120"/>
            <a:ext cx="5303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121"/>
                </a:solidFill>
                <a:latin typeface="맑은 고딕"/>
              </a:rPr>
              <a:t>• docs/requirements/01~09_*.md (REQ-01 ~ REQ-09)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121"/>
                </a:solidFill>
                <a:latin typeface="맑은 고딕"/>
              </a:rPr>
              <a:t>• docs/pm/01~11_*.md (스프린트 분석 회의록)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121"/>
                </a:solidFill>
                <a:latin typeface="맑은 고딕"/>
              </a:rPr>
              <a:t>• docs/sprint.md — 전체 스프린트 이력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121"/>
                </a:solidFill>
                <a:latin typeface="맑은 고딕"/>
              </a:rPr>
              <a:t>• docs/agents/{doc-writer, reviewer, ...}/*.md — agent 보고서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121"/>
                </a:solidFill>
                <a:latin typeface="맑은 고딕"/>
              </a:rPr>
              <a:t>• README.md — 빠른 시작 + 환경 변수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73152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맑은 고딕"/>
              </a:rPr>
              <a:t>감사합니다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32720" cy="4572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ctr"/>
            <a:r>
              <a:rPr sz="1800" b="0">
                <a:solidFill>
                  <a:srgbClr val="CBD5E1"/>
                </a:solidFill>
                <a:latin typeface="맑은 고딕"/>
              </a:rPr>
              <a:t>보험청구심사 어시스턴트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657600"/>
            <a:ext cx="2103120" cy="365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332720" cy="4572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ctr"/>
            <a:r>
              <a:rPr sz="1400" b="0">
                <a:solidFill>
                  <a:srgbClr val="CBD5E1"/>
                </a:solidFill>
                <a:latin typeface="맑은 고딕"/>
              </a:rPr>
              <a:t>단일 진입점: docs/SERVICE_OVERVIEW.md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10332720" cy="4572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ctr"/>
            <a:r>
              <a:rPr sz="1200" b="0">
                <a:solidFill>
                  <a:srgbClr val="9CAAC0"/>
                </a:solidFill>
                <a:latin typeface="맑은 고딕"/>
              </a:rPr>
              <a:t>세부 설계: docs/design/  ·  사용 가이드: docs/usage_*.md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943600"/>
            <a:ext cx="10332720" cy="54864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ctr"/>
            <a:r>
              <a:rPr sz="1000" b="0">
                <a:solidFill>
                  <a:srgbClr val="9CAAC0"/>
                </a:solidFill>
                <a:latin typeface="맑은 고딕"/>
              </a:rPr>
              <a:t>면책: 본 서비스의 모든 판단 결과는 참고용이며, 최종 보험금 청구 가능 여부의 결정은 보험사에 있습니다.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